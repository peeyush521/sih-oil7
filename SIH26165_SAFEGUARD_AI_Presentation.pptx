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B429"/>
                </a:solidFill>
                <a:latin typeface="Segoe UI"/>
              </a:defRPr>
            </a:pPr>
            <a:r>
              <a:t>GOVERNMENT OF INDIA  ·  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Problem Statement: SIH26165  ·  Oil India Limited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🛡️ SAFEGUARD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0BCCE"/>
                </a:solidFill>
                <a:latin typeface="Segoe UI"/>
              </a:defRPr>
            </a:pPr>
            <a:r>
              <a:t>AI/NLP Engine to Detect Serious Injury &amp; Fatality (SIF) Precursors</a:t>
            </a:r>
            <a:br/>
            <a:r>
              <a:t>in Oil India's Unsafe-Act / Unsafe-Condition / Near-Miss Reports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657600"/>
            <a:ext cx="36576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B429"/>
                </a:solidFill>
                <a:latin typeface="Segoe UI"/>
              </a:defRPr>
            </a:pPr>
            <a:r>
              <a:t>Detect → Understand → Prioritize → Learn → 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754880"/>
            <a:ext cx="2560320" cy="100584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754880"/>
            <a:ext cx="256032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892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4FF"/>
                </a:solidFill>
                <a:latin typeface="Segoe UI"/>
              </a:defRPr>
            </a:pPr>
            <a:r>
              <a:t>195+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94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Reports Analyzed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4754880"/>
            <a:ext cx="2560320" cy="100584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4754880"/>
            <a:ext cx="2560320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4892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E676"/>
                </a:solidFill>
                <a:latin typeface="Segoe UI"/>
              </a:defRPr>
            </a:pPr>
            <a:r>
              <a:t>97.4%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5394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Classification Accuracy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4754880"/>
            <a:ext cx="2560320" cy="100584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4754880"/>
            <a:ext cx="2560320" cy="36576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4892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0B42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5394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AI Engine Modules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4754880"/>
            <a:ext cx="2560320" cy="100584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4754880"/>
            <a:ext cx="2560320" cy="36576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4892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4757"/>
                </a:solidFill>
                <a:latin typeface="Segoe UI"/>
              </a:defRPr>
            </a:pPr>
            <a:r>
              <a:t>&lt; 2s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5394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Per-Report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Segoe UI"/>
              </a:defRPr>
            </a:pPr>
            <a:r>
              <a:t>Oil India Limited — Duliajan, Assam  |  Team: [Your Team Name]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Segoe UI"/>
              </a:defRPr>
            </a:pPr>
            <a:r>
              <a:t>◆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27432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B429"/>
                </a:solidFill>
                <a:latin typeface="Segoe UI"/>
              </a:defRPr>
            </a:pPr>
            <a:r>
              <a:t>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0BCCE"/>
                </a:solidFill>
                <a:latin typeface="Segoe UI"/>
              </a:defRPr>
            </a:pPr>
            <a:r>
              <a:t>Oil India generates thousands of safety reports annually:</a:t>
            </a:r>
          </a:p>
          <a:p>
            <a:pPr>
              <a:spcAft>
                <a:spcPts val="7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7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▸ Unsafe-Act Reports — Worker violations, PPE non-compliance</a:t>
            </a:r>
          </a:p>
          <a:p>
            <a:pPr>
              <a:spcAft>
                <a:spcPts val="7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▸ Unsafe-Condition Reports — Equipment failures, environmental hazards</a:t>
            </a:r>
          </a:p>
          <a:p>
            <a:pPr>
              <a:spcAft>
                <a:spcPts val="7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▸ Near-Miss Reports — Incidents that COULD have caused serious injury</a:t>
            </a:r>
          </a:p>
          <a:p>
            <a:pPr>
              <a:spcAft>
                <a:spcPts val="7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700"/>
              </a:spcAft>
              <a:defRPr sz="1400" b="1">
                <a:solidFill>
                  <a:srgbClr val="FF4757"/>
                </a:solidFill>
                <a:latin typeface="Segoe UI"/>
              </a:defRPr>
            </a:pPr>
            <a:r>
              <a:t>The Problem:</a:t>
            </a:r>
          </a:p>
          <a:p>
            <a:pPr>
              <a:spcAft>
                <a:spcPts val="700"/>
              </a:spcAft>
              <a:defRPr sz="1400" b="0">
                <a:solidFill>
                  <a:srgbClr val="B0BCCE"/>
                </a:solidFill>
                <a:latin typeface="Segoe UI"/>
              </a:defRPr>
            </a:pPr>
            <a:r>
              <a:t>▸ Reports sit unused in filing cabinets and databases</a:t>
            </a:r>
          </a:p>
          <a:p>
            <a:pPr>
              <a:spcAft>
                <a:spcPts val="700"/>
              </a:spcAft>
              <a:defRPr sz="1400" b="0">
                <a:solidFill>
                  <a:srgbClr val="B0BCCE"/>
                </a:solidFill>
                <a:latin typeface="Segoe UI"/>
              </a:defRPr>
            </a:pPr>
            <a:r>
              <a:t>▸ Safety officers manually read thousands of reports</a:t>
            </a:r>
          </a:p>
          <a:p>
            <a:pPr>
              <a:spcAft>
                <a:spcPts val="700"/>
              </a:spcAft>
              <a:defRPr sz="1400" b="0">
                <a:solidFill>
                  <a:srgbClr val="B0BCCE"/>
                </a:solidFill>
                <a:latin typeface="Segoe UI"/>
              </a:defRPr>
            </a:pPr>
            <a:r>
              <a:t>▸ Critical SIF precursors HIDDEN in unstructured text</a:t>
            </a:r>
          </a:p>
          <a:p>
            <a:pPr>
              <a:spcAft>
                <a:spcPts val="700"/>
              </a:spcAft>
              <a:defRPr sz="1400" b="0">
                <a:solidFill>
                  <a:srgbClr val="B0BCCE"/>
                </a:solidFill>
                <a:latin typeface="Segoe UI"/>
              </a:defRPr>
            </a:pPr>
            <a:r>
              <a:t>▸ No way to detect escalation patterns across locations</a:t>
            </a:r>
          </a:p>
          <a:p>
            <a:pPr>
              <a:spcAft>
                <a:spcPts val="700"/>
              </a:spcAft>
              <a:defRPr sz="1400" b="0">
                <a:solidFill>
                  <a:srgbClr val="FF4757"/>
                </a:solidFill>
                <a:latin typeface="Segoe UI"/>
              </a:defRPr>
            </a:pPr>
            <a:r>
              <a:t>▸ By the time patterns are noticed, someone may be hurt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4757"/>
                </a:solidFill>
                <a:latin typeface="Segoe UI"/>
              </a:defRPr>
            </a:pPr>
            <a:r>
              <a:t>India's Safety Crisis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4757"/>
                </a:solidFill>
                <a:latin typeface="Segoe UI"/>
              </a:defRPr>
            </a:pPr>
            <a:r>
              <a:t>🔴  3,500+</a:t>
            </a:r>
          </a:p>
          <a:p>
            <a:pPr>
              <a:spcAft>
                <a:spcPts val="700"/>
              </a:spcAft>
              <a:defRPr sz="1400" b="0">
                <a:solidFill>
                  <a:srgbClr val="B0BCCE"/>
                </a:solidFill>
                <a:latin typeface="Segoe UI"/>
              </a:defRPr>
            </a:pPr>
            <a:r>
              <a:t>     Workers die in Indian industrial accidents every year</a:t>
            </a:r>
          </a:p>
          <a:p>
            <a:pPr>
              <a:spcAft>
                <a:spcPts val="7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700"/>
              </a:spcAft>
              <a:defRPr sz="1400" b="1">
                <a:solidFill>
                  <a:srgbClr val="FF4757"/>
                </a:solidFill>
                <a:latin typeface="Segoe UI"/>
              </a:defRPr>
            </a:pPr>
            <a:r>
              <a:t>🔴  48,000+</a:t>
            </a:r>
          </a:p>
          <a:p>
            <a:pPr>
              <a:spcAft>
                <a:spcPts val="700"/>
              </a:spcAft>
              <a:defRPr sz="1400" b="0">
                <a:solidFill>
                  <a:srgbClr val="B0BCCE"/>
                </a:solidFill>
                <a:latin typeface="Segoe UI"/>
              </a:defRPr>
            </a:pPr>
            <a:r>
              <a:t>     Major industrial accidents reported in the last decade</a:t>
            </a:r>
          </a:p>
          <a:p>
            <a:pPr>
              <a:spcAft>
                <a:spcPts val="7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700"/>
              </a:spcAft>
              <a:defRPr sz="1400" b="1">
                <a:solidFill>
                  <a:srgbClr val="F0B429"/>
                </a:solidFill>
                <a:latin typeface="Segoe UI"/>
              </a:defRPr>
            </a:pPr>
            <a:r>
              <a:t>🟡  ~80%</a:t>
            </a:r>
          </a:p>
          <a:p>
            <a:pPr>
              <a:spcAft>
                <a:spcPts val="700"/>
              </a:spcAft>
              <a:defRPr sz="1400" b="0">
                <a:solidFill>
                  <a:srgbClr val="B0BCCE"/>
                </a:solidFill>
                <a:latin typeface="Segoe UI"/>
              </a:defRPr>
            </a:pPr>
            <a:r>
              <a:t>     Of incidents had identifiable precursors in prior reports</a:t>
            </a:r>
          </a:p>
          <a:p>
            <a:pPr>
              <a:spcAft>
                <a:spcPts val="7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700"/>
              </a:spcAft>
              <a:defRPr sz="1400" b="1">
                <a:solidFill>
                  <a:srgbClr val="00E676"/>
                </a:solidFill>
                <a:latin typeface="Segoe UI"/>
              </a:defRPr>
            </a:pPr>
            <a:r>
              <a:t>🟢  70%</a:t>
            </a:r>
          </a:p>
          <a:p>
            <a:pPr>
              <a:spcAft>
                <a:spcPts val="700"/>
              </a:spcAft>
              <a:defRPr sz="1400" b="0">
                <a:solidFill>
                  <a:srgbClr val="B0BCCE"/>
                </a:solidFill>
                <a:latin typeface="Segoe UI"/>
              </a:defRPr>
            </a:pPr>
            <a:r>
              <a:t>     Of safety reports are NEVER analyzed systematically</a:t>
            </a:r>
          </a:p>
          <a:p>
            <a:pPr>
              <a:spcAft>
                <a:spcPts val="7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700"/>
              </a:spcAft>
              <a:defRPr sz="1400" b="0">
                <a:solidFill>
                  <a:srgbClr val="B0BCCE"/>
                </a:solidFill>
                <a:latin typeface="Segoe UI"/>
              </a:defRPr>
            </a:pPr>
            <a:r>
              <a:t>Source: DGMS, Ministry of Labour &amp; Employment, India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486400"/>
            <a:ext cx="11247120" cy="73152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577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429"/>
                </a:solidFill>
                <a:latin typeface="Segoe UI"/>
              </a:defRPr>
            </a:pPr>
            <a:r>
              <a:t>💡 KEY INSIGHT: Every fatal incident was preceded by warning signs. SAFEGUARD AI reads those signs before anyone gets hurt.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Segoe UI"/>
              </a:defRPr>
            </a:pPr>
            <a:r>
              <a:t>◆ Proposed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27432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B429"/>
                </a:solidFill>
                <a:latin typeface="Segoe UI"/>
              </a:defRPr>
            </a:pPr>
            <a:r>
              <a:t>"AI-powered Proactive Safety Intelligence — from Reports to Risk to Prevention"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920240"/>
            <a:ext cx="1280160" cy="822960"/>
          </a:xfrm>
          <a:prstGeom prst="roundRect">
            <a:avLst/>
          </a:prstGeom>
          <a:solidFill>
            <a:srgbClr val="0F2B46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D4FF"/>
                </a:solidFill>
              </a:defRPr>
            </a:pPr>
            <a:r>
              <a:t>OIL Safety</a:t>
            </a:r>
            <a:br/>
            <a:r>
              <a:t>Reports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554480" y="2194560"/>
            <a:ext cx="18288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37360" y="1920240"/>
            <a:ext cx="1280160" cy="822960"/>
          </a:xfrm>
          <a:prstGeom prst="roundRect">
            <a:avLst/>
          </a:prstGeom>
          <a:solidFill>
            <a:srgbClr val="0F2B46"/>
          </a:solidFill>
          <a:ln w="254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90FF"/>
                </a:solidFill>
              </a:defRPr>
            </a:pPr>
            <a:r>
              <a:t>NLP</a:t>
            </a:r>
            <a:br/>
            <a:r>
              <a:t>Engine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17520" y="2194560"/>
            <a:ext cx="182880" cy="274320"/>
          </a:xfrm>
          <a:prstGeom prst="rightArrow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0" y="1920240"/>
            <a:ext cx="1280160" cy="822960"/>
          </a:xfrm>
          <a:prstGeom prst="roundRect">
            <a:avLst/>
          </a:prstGeom>
          <a:solidFill>
            <a:srgbClr val="0F2B46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E676"/>
                </a:solidFill>
              </a:defRPr>
            </a:pPr>
            <a:r>
              <a:t>Entity</a:t>
            </a:r>
            <a:br/>
            <a:r>
              <a:t>Extraction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480560" y="2194560"/>
            <a:ext cx="182880" cy="274320"/>
          </a:xfrm>
          <a:prstGeom prst="rightArrow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63440" y="1920240"/>
            <a:ext cx="1280160" cy="822960"/>
          </a:xfrm>
          <a:prstGeom prst="roundRect">
            <a:avLst/>
          </a:prstGeom>
          <a:solidFill>
            <a:srgbClr val="0F2B46"/>
          </a:solidFill>
          <a:ln w="254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4757"/>
                </a:solidFill>
              </a:defRPr>
            </a:pPr>
            <a:r>
              <a:t>SIF Precursor</a:t>
            </a:r>
            <a:br/>
            <a:r>
              <a:t>Detection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43600" y="2194560"/>
            <a:ext cx="182880" cy="274320"/>
          </a:xfrm>
          <a:prstGeom prst="rightArrow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0" y="1920240"/>
            <a:ext cx="1280160" cy="822960"/>
          </a:xfrm>
          <a:prstGeom prst="roundRect">
            <a:avLst/>
          </a:prstGeom>
          <a:solidFill>
            <a:srgbClr val="0F2B46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8C00"/>
                </a:solidFill>
              </a:defRPr>
            </a:pPr>
            <a:r>
              <a:t>Risk</a:t>
            </a:r>
            <a:br/>
            <a:r>
              <a:t>Scoring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406640" y="2194560"/>
            <a:ext cx="182880" cy="274320"/>
          </a:xfrm>
          <a:prstGeom prst="rightArrow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589520" y="1920240"/>
            <a:ext cx="1280160" cy="822960"/>
          </a:xfrm>
          <a:prstGeom prst="roundRect">
            <a:avLst/>
          </a:prstGeom>
          <a:solidFill>
            <a:srgbClr val="0F2B46"/>
          </a:solidFill>
          <a:ln w="25400">
            <a:solidFill>
              <a:srgbClr val="F0B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0B429"/>
                </a:solidFill>
              </a:defRPr>
            </a:pPr>
            <a:r>
              <a:t>Pattern</a:t>
            </a:r>
            <a:br/>
            <a:r>
              <a:t>Mining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869680" y="2194560"/>
            <a:ext cx="182880" cy="274320"/>
          </a:xfrm>
          <a:prstGeom prst="rightArrow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52560" y="1920240"/>
            <a:ext cx="1280160" cy="822960"/>
          </a:xfrm>
          <a:prstGeom prst="roundRect">
            <a:avLst/>
          </a:prstGeom>
          <a:solidFill>
            <a:srgbClr val="0F2B46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D4FF"/>
                </a:solidFill>
              </a:defRPr>
            </a:pPr>
            <a:r>
              <a:t>Explainable</a:t>
            </a:r>
            <a:br/>
            <a:r>
              <a:t>AI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0332720" y="2194560"/>
            <a:ext cx="18288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515600" y="1920240"/>
            <a:ext cx="1280160" cy="822960"/>
          </a:xfrm>
          <a:prstGeom prst="roundRect">
            <a:avLst/>
          </a:prstGeom>
          <a:solidFill>
            <a:srgbClr val="0F2B46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E676"/>
                </a:solidFill>
              </a:defRPr>
            </a:pPr>
            <a:r>
              <a:t>Safety</a:t>
            </a:r>
            <a:br/>
            <a:r>
              <a:t>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108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Five Core Outputs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566160"/>
            <a:ext cx="2103120" cy="13716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566160"/>
            <a:ext cx="210312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657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🔍 DETECT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0233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Is an SIF precursor present?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3566160"/>
            <a:ext cx="2103120" cy="13716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0" y="3566160"/>
            <a:ext cx="2103120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34640" y="3657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76"/>
                </a:solidFill>
                <a:latin typeface="Segoe UI"/>
              </a:defRPr>
            </a:pPr>
            <a:r>
              <a:t>📋 EXTRACT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40233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What happened, where, who?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0" y="3566160"/>
            <a:ext cx="2103120" cy="13716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0" y="3566160"/>
            <a:ext cx="2103120" cy="36576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0" y="3657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4757"/>
                </a:solidFill>
                <a:latin typeface="Segoe UI"/>
              </a:defRPr>
            </a:pPr>
            <a:r>
              <a:t>⚠️ PRIORITIZE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40233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How serious is the risk?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0" y="3566160"/>
            <a:ext cx="2103120" cy="13716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0" y="3566160"/>
            <a:ext cx="2103120" cy="36576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06640" y="3657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B429"/>
                </a:solidFill>
                <a:latin typeface="Segoe UI"/>
              </a:defRPr>
            </a:pPr>
            <a:r>
              <a:t>🔗 LEARN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40233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Has this happened before?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01200" y="3566160"/>
            <a:ext cx="2103120" cy="13716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01200" y="3566160"/>
            <a:ext cx="2103120" cy="36576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92640" y="3657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90FF"/>
                </a:solidFill>
                <a:latin typeface="Segoe UI"/>
              </a:defRPr>
            </a:pPr>
            <a:r>
              <a:t>✅ ACT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40233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What should we do now?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303520"/>
            <a:ext cx="11247120" cy="10972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394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Why This Is Different From Traditional Safety Systems:</a:t>
            </a:r>
          </a:p>
          <a:p>
            <a:pPr>
              <a:spcAft>
                <a:spcPts val="65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50"/>
              </a:spcAft>
              <a:defRPr sz="1300" b="0">
                <a:solidFill>
                  <a:srgbClr val="B0BCCE"/>
                </a:solidFill>
                <a:latin typeface="Segoe UI"/>
              </a:defRPr>
            </a:pPr>
            <a:r>
              <a:t>Traditional: Store reports → Manual reading → Reactive response → After someone gets hurt</a:t>
            </a:r>
          </a:p>
          <a:p>
            <a:pPr>
              <a:spcAft>
                <a:spcPts val="650"/>
              </a:spcAft>
              <a:defRPr sz="1300" b="1">
                <a:solidFill>
                  <a:srgbClr val="00E676"/>
                </a:solidFill>
                <a:latin typeface="Segoe UI"/>
              </a:defRPr>
            </a:pPr>
            <a:r>
              <a:t>SAFEGUARD AI: Ingest reports → AI extraction → Real-time precursor detection → Proactive prevention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Segoe UI"/>
              </a:defRPr>
            </a:pPr>
            <a:r>
              <a:t>◆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27432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47120" cy="6858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73152" cy="685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Segoe UI"/>
              </a:defRPr>
            </a:pPr>
            <a:r>
              <a:t>DATA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23444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Segoe UI"/>
              </a:defRPr>
            </a:pPr>
            <a:r>
              <a:t>Text Reports → PDF Upload → CSV Import → Hindi/English/Hinglish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11247120" cy="6858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73152" cy="6858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90FF"/>
                </a:solidFill>
                <a:latin typeface="Segoe UI"/>
              </a:defRPr>
            </a:pPr>
            <a:r>
              <a:t>NLP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05740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Segoe UI"/>
              </a:defRPr>
            </a:pPr>
            <a:r>
              <a:t>spaCy NER (230 domain terms) → TF-IDF + Logistic Regression → Semantic Similarity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34640"/>
            <a:ext cx="11247120" cy="6858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834640"/>
            <a:ext cx="73152" cy="6858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80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Segoe UI"/>
              </a:defRPr>
            </a:pPr>
            <a:r>
              <a:t>INTELLIGENCE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88036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Segoe UI"/>
              </a:defRPr>
            </a:pPr>
            <a:r>
              <a:t>SIF Precursor Detection → Risk Scoring (14 factors) → Pattern Mining → Anomaly Detection → GNN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657600"/>
            <a:ext cx="11247120" cy="6858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657600"/>
            <a:ext cx="73152" cy="6858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03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B429"/>
                </a:solidFill>
                <a:latin typeface="Segoe UI"/>
              </a:defRPr>
            </a:pPr>
            <a:r>
              <a:t>AI REASONING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70332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Segoe UI"/>
              </a:defRPr>
            </a:pPr>
            <a:r>
              <a:t>Gemini LLM Explanations → SHAP/LIME Explainability → RAG Root Cause Analysis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11247120" cy="6858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480560"/>
            <a:ext cx="73152" cy="68580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5262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757"/>
                </a:solidFill>
                <a:latin typeface="Segoe UI"/>
              </a:defRPr>
            </a:pPr>
            <a:r>
              <a:t>PRESENTATION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452628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Segoe UI"/>
              </a:defRPr>
            </a:pPr>
            <a:r>
              <a:t>React Dashboard → Cytoscape Graph → Chart.js Timeline → Leaflet Heatmap → Chatbot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303520"/>
            <a:ext cx="11247120" cy="6858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303520"/>
            <a:ext cx="73152" cy="685800"/>
          </a:xfrm>
          <a:prstGeom prst="rect">
            <a:avLst/>
          </a:prstGeom>
          <a:solidFill>
            <a:srgbClr val="B0B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349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0BCCE"/>
                </a:solidFill>
                <a:latin typeface="Segoe UI"/>
              </a:defRPr>
            </a:pPr>
            <a:r>
              <a:t>SECURITY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534924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Segoe UI"/>
              </a:defRPr>
            </a:pPr>
            <a:r>
              <a:t>JWT Authentication → Role-Based Access → SQLite User Store → Audit Logging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126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429"/>
                </a:solidFill>
                <a:latin typeface="Segoe UI"/>
              </a:defRPr>
            </a:pPr>
            <a:r>
              <a:t>Tech Stack: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6126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Segoe UI"/>
              </a:defRPr>
            </a:pPr>
            <a:r>
              <a:t>Python · FastAPI · spaCy · scikit-learn · NetworkX · Gemini AI · React · Tailwind CSS · Cytoscape.js · SQLite · Docker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Segoe UI"/>
              </a:defRPr>
            </a:pPr>
            <a:r>
              <a:t>◆ AI/ML Engine Breakdown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27432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657600" cy="164592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36576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1. NLP 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Segoe UI"/>
              </a:defRPr>
            </a:pPr>
            <a:r>
              <a:t>▸ spaCy NER with 230 Oil India domain terms</a:t>
            </a:r>
            <a:br/>
            <a:r>
              <a:t>▸ Extracts equipment, hazards, locations, activities from free text.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097280"/>
            <a:ext cx="3657600" cy="164592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097280"/>
            <a:ext cx="3657600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234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Segoe UI"/>
              </a:defRPr>
            </a:pPr>
            <a:r>
              <a:t>2. ML Classification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6459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Segoe UI"/>
              </a:defRPr>
            </a:pPr>
            <a:r>
              <a:t>▸ TF-IDF + Logistic Regression</a:t>
            </a:r>
            <a:br/>
            <a:r>
              <a:t>▸ 7 hazard categories</a:t>
            </a:r>
            <a:br/>
            <a:r>
              <a:t>▸ 97.4% accuracy</a:t>
            </a:r>
            <a:br/>
            <a:r>
              <a:t>▸ 80/20 train-test split with confusion matrix.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097280"/>
            <a:ext cx="3657600" cy="164592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097280"/>
            <a:ext cx="3657600" cy="36576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234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757"/>
                </a:solidFill>
                <a:latin typeface="Segoe UI"/>
              </a:defRPr>
            </a:pPr>
            <a:r>
              <a:t>3. Risk Scoring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6459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Segoe UI"/>
              </a:defRPr>
            </a:pPr>
            <a:r>
              <a:t>▸ 14-factor engine with time decay &amp; cross-equipment correlation</a:t>
            </a:r>
            <a:br/>
            <a:r>
              <a:t>▸ Produces 0-100 score with confidence percentage.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926080"/>
            <a:ext cx="3657600" cy="164592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926080"/>
            <a:ext cx="3657600" cy="36576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063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B429"/>
                </a:solidFill>
                <a:latin typeface="Segoe UI"/>
              </a:defRPr>
            </a:pPr>
            <a:r>
              <a:t>4. SIF Precursor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4747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Segoe UI"/>
              </a:defRPr>
            </a:pPr>
            <a:r>
              <a:t>▸ Pattern-based: escalating severity, repeated near-misses, PPE→injury chains, same-location recurrence.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2926080"/>
            <a:ext cx="3657600" cy="164592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06240" y="2926080"/>
            <a:ext cx="3657600" cy="36576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3063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90FF"/>
                </a:solidFill>
                <a:latin typeface="Segoe UI"/>
              </a:defRPr>
            </a:pPr>
            <a:r>
              <a:t>5. Knowledge Graph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4747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Segoe UI"/>
              </a:defRPr>
            </a:pPr>
            <a:r>
              <a:t>▸ NetworkX temporal graph linking incidents across time/equipment/location</a:t>
            </a:r>
            <a:br/>
            <a:r>
              <a:t>▸ Cytoscape.js visualization.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2926080"/>
            <a:ext cx="3657600" cy="164592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2926080"/>
            <a:ext cx="365760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063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Segoe UI"/>
              </a:defRPr>
            </a:pPr>
            <a:r>
              <a:t>6. LLM Explanation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4747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Segoe UI"/>
              </a:defRPr>
            </a:pPr>
            <a:r>
              <a:t>▸ Gemini 2.5 Flash generates natural-language root cause analysis with OSHA/DGMS regulatory references.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754880"/>
            <a:ext cx="3657600" cy="164592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4754880"/>
            <a:ext cx="36576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892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7. SHAP/LIME Explainability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3035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Segoe UI"/>
              </a:defRPr>
            </a:pPr>
            <a:r>
              <a:t>▸ Horizontal bar charts showing which words and risk factors contributed to each classification decision.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4754880"/>
            <a:ext cx="3657600" cy="164592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06240" y="4754880"/>
            <a:ext cx="3657600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0" y="4892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Segoe UI"/>
              </a:defRPr>
            </a:pPr>
            <a:r>
              <a:t>8. Anomaly Detection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53035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Segoe UI"/>
              </a:defRPr>
            </a:pPr>
            <a:r>
              <a:t>▸ Isolation Forest identifies never-seen-before hazard patterns that don't match known categories.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20" y="4754880"/>
            <a:ext cx="3657600" cy="164592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46720" y="4754880"/>
            <a:ext cx="3657600" cy="36576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4892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757"/>
                </a:solidFill>
                <a:latin typeface="Segoe UI"/>
              </a:defRPr>
            </a:pPr>
            <a:r>
              <a:t>9. Anomaly + Alert System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53035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Segoe UI"/>
              </a:defRPr>
            </a:pPr>
            <a:r>
              <a:t>▸ Real-time CRITICAL/WARNING alerts with severity badges, sound alerts, and SMS notification support.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Segoe UI"/>
              </a:defRPr>
            </a:pPr>
            <a:r>
              <a:t>◆ Key Features &amp; Innovation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27432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657600" cy="24688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3657600" cy="36576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757"/>
                </a:solidFill>
                <a:latin typeface="Segoe UI"/>
              </a:defRPr>
            </a:pPr>
            <a:r>
              <a:t>SIF Precursor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Segoe UI"/>
              </a:defRPr>
            </a:pPr>
            <a:r>
              <a:t>▸ Detects WARNING SIGNALS before incidents occur</a:t>
            </a:r>
            <a:br/>
            <a:r>
              <a:t>▸ Tracks escalation patterns across time</a:t>
            </a:r>
            <a:br/>
            <a:r>
              <a:t>▸ 14-factor risk scoring with confidence %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097280"/>
            <a:ext cx="3657600" cy="24688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097280"/>
            <a:ext cx="3657600" cy="36576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234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B429"/>
                </a:solidFill>
                <a:latin typeface="Segoe UI"/>
              </a:defRPr>
            </a:pPr>
            <a:r>
              <a:t>Multi-Language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6459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Segoe UI"/>
              </a:defRPr>
            </a:pPr>
            <a:r>
              <a:t>▸ Hindi / Hinglish / English automatic detection</a:t>
            </a:r>
            <a:br/>
            <a:r>
              <a:t>▸ Gemini AI-powered natural translation</a:t>
            </a:r>
            <a:br/>
            <a:r>
              <a:t>▸ Bridge between field workers &amp; management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097280"/>
            <a:ext cx="3657600" cy="24688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097280"/>
            <a:ext cx="36576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234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Explainable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6459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Segoe UI"/>
              </a:defRPr>
            </a:pPr>
            <a:r>
              <a:t>▸ SHAP-style feature contribution charts</a:t>
            </a:r>
            <a:br/>
            <a:r>
              <a:t>▸ LIME-style word-level explanations</a:t>
            </a:r>
            <a:br/>
            <a:r>
              <a:t>▸ "Why Now?" risk factor breakdown panel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40480"/>
            <a:ext cx="3657600" cy="24688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3657600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977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Segoe UI"/>
              </a:defRPr>
            </a:pPr>
            <a:r>
              <a:t>Temporal Pattern Mining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891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Segoe UI"/>
              </a:defRPr>
            </a:pPr>
            <a:r>
              <a:t>▸ Cytoscape.js precursor chain visualization</a:t>
            </a:r>
            <a:br/>
            <a:r>
              <a:t>▸ Cross-equipment correlation detection</a:t>
            </a:r>
            <a:br/>
            <a:r>
              <a:t>▸ Recurring hazard pattern identification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3840480"/>
            <a:ext cx="3657600" cy="24688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06240" y="3840480"/>
            <a:ext cx="3657600" cy="36576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3977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90FF"/>
                </a:solidFill>
                <a:latin typeface="Segoe UI"/>
              </a:defRPr>
            </a:pPr>
            <a:r>
              <a:t>Real-Time Alerting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3891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Segoe UI"/>
              </a:defRPr>
            </a:pPr>
            <a:r>
              <a:t>▸ CRITICAL severity alerts with auto-trigger</a:t>
            </a:r>
            <a:br/>
            <a:r>
              <a:t>▸ SMS / Email / WebSocket notification support</a:t>
            </a:r>
            <a:br/>
            <a:r>
              <a:t>▸ Acknowledge / Dismiss workflow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3840480"/>
            <a:ext cx="3657600" cy="24688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3840480"/>
            <a:ext cx="365760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977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Segoe UI"/>
              </a:defRPr>
            </a:pPr>
            <a:r>
              <a:t>Human-in-the-Loop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3891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Segoe UI"/>
              </a:defRPr>
            </a:pPr>
            <a:r>
              <a:t>▸ Mark Complete / Delay action buttons</a:t>
            </a:r>
            <a:br/>
            <a:r>
              <a:t>▸ Safety officer validation workflow</a:t>
            </a:r>
            <a:br/>
            <a:r>
              <a:t>▸ Feedback → Retraining pipeline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Segoe UI"/>
              </a:defRPr>
            </a:pPr>
            <a:r>
              <a:t>◆ Demo Walkthrough (5 Minutes)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27432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640080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628"/>
                </a:solidFill>
                <a:latin typeface="Segoe UI"/>
              </a:defRPr>
            </a:pPr>
            <a:r>
              <a:t>0:00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097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Segoe UI"/>
              </a:defRPr>
            </a:pPr>
            <a:r>
              <a:t>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09728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Show SAFEGUARD AI branding, Government of India badge, role-based login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640080" cy="4114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628"/>
                </a:solidFill>
                <a:latin typeface="Segoe UI"/>
              </a:defRPr>
            </a:pPr>
            <a:r>
              <a:t>0:30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76"/>
                </a:solidFill>
                <a:latin typeface="Segoe UI"/>
              </a:defRPr>
            </a:pPr>
            <a: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6459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Live activity feed, risk score, 195+ reports loaded, rotating stats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48840"/>
            <a:ext cx="640080" cy="41148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1945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628"/>
                </a:solidFill>
                <a:latin typeface="Segoe UI"/>
              </a:defRPr>
            </a:pPr>
            <a:r>
              <a:t>1:00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90FF"/>
                </a:solidFill>
                <a:latin typeface="Segoe UI"/>
              </a:defRPr>
            </a:pPr>
            <a:r>
              <a:t>LOAD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1945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Click 'Load next report' — show real-time NLP extraction + classification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97480"/>
            <a:ext cx="640080" cy="41148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7432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1:30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2743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757"/>
                </a:solidFill>
                <a:latin typeface="Segoe UI"/>
              </a:defRPr>
            </a:pPr>
            <a:r>
              <a:t>RISK ESCALATION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27432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Load 5-6 reports — watch risk score climb from 25 to 75, alert fires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246120"/>
            <a:ext cx="640080" cy="41148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2918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628"/>
                </a:solidFill>
                <a:latin typeface="Segoe UI"/>
              </a:defRPr>
            </a:pPr>
            <a:r>
              <a:t>2:00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291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B429"/>
                </a:solidFill>
                <a:latin typeface="Segoe UI"/>
              </a:defRPr>
            </a:pPr>
            <a:r>
              <a:t>CUSTOM INPUT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2918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Type a messy Hinglish report → auto-detect → translate → classify correctly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794760"/>
            <a:ext cx="640080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8404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628"/>
                </a:solidFill>
                <a:latin typeface="Segoe UI"/>
              </a:defRPr>
            </a:pPr>
            <a:r>
              <a:t>2:30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3840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Segoe UI"/>
              </a:defRPr>
            </a:pPr>
            <a:r>
              <a:t>AI ENGINES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384048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Show ML Metrics (97.4%), Explainability (SHAP bars), Comparison vs Manual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343400"/>
            <a:ext cx="640080" cy="4114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3891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628"/>
                </a:solidFill>
                <a:latin typeface="Segoe UI"/>
              </a:defRPr>
            </a:pPr>
            <a:r>
              <a:t>3:00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4389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76"/>
                </a:solidFill>
                <a:latin typeface="Segoe UI"/>
              </a:defRPr>
            </a:pPr>
            <a:r>
              <a:t>KNOWLEDGE GRAPH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3891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Show Cytoscape precursor chain — temporal escalation across incidents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892040"/>
            <a:ext cx="640080" cy="41148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9377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3:30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4937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757"/>
                </a:solidFill>
                <a:latin typeface="Segoe UI"/>
              </a:defRPr>
            </a:pPr>
            <a:r>
              <a:t>ALERTS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49377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Show 9 CRITICAL alerts, acknowledge workflow, severity breakdown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440680"/>
            <a:ext cx="640080" cy="41148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4864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628"/>
                </a:solidFill>
                <a:latin typeface="Segoe UI"/>
              </a:defRPr>
            </a:pPr>
            <a:r>
              <a:t>4:00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5486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B429"/>
                </a:solidFill>
                <a:latin typeface="Segoe UI"/>
              </a:defRPr>
            </a:pPr>
            <a:r>
              <a:t>CHATBOT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54864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Ask 'Which location is most dangerous?' — Gemini answers from live data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989320"/>
            <a:ext cx="640080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0350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628"/>
                </a:solidFill>
                <a:latin typeface="Segoe UI"/>
              </a:defRPr>
            </a:pPr>
            <a:r>
              <a:t>4:30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0160" y="6035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Segoe UI"/>
              </a:defRPr>
            </a:pPr>
            <a:r>
              <a:t>EXPLAINABILITY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0" y="60350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Show 'Why Now?' panel — all risk factors with contributions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B429"/>
                </a:solidFill>
                <a:latin typeface="Segoe UI"/>
              </a:defRPr>
            </a:pPr>
            <a:r>
              <a:t>⚡ FALLBACK: If API fails → pre-recorded screenshots. If Gemini down → template explanations. If no internet → offline mode with local models.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Segoe UI"/>
              </a:defRPr>
            </a:pPr>
            <a:r>
              <a:t>◆ Results &amp;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27432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B429"/>
                </a:solidFill>
                <a:latin typeface="Segoe UI"/>
              </a:defRPr>
            </a:pPr>
            <a:r>
              <a:t>SAFEGUARD AI vs Manual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Classification Accuracy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645920"/>
            <a:ext cx="2743200" cy="4114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691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676"/>
                </a:solidFill>
                <a:latin typeface="Segoe UI"/>
              </a:defRPr>
            </a:pPr>
            <a:r>
              <a:t>✅ 97.4%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645920"/>
            <a:ext cx="2743200" cy="4114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~72%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6916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7627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Time per Report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2176272"/>
            <a:ext cx="2743200" cy="4114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2219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676"/>
                </a:solidFill>
                <a:latin typeface="Segoe UI"/>
              </a:defRPr>
            </a:pPr>
            <a:r>
              <a:t>✅ 2 seconds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176272"/>
            <a:ext cx="2743200" cy="4114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2219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15 minutes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22199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70662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Reports Analyzed per Hour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2706624"/>
            <a:ext cx="2743200" cy="4114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275234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676"/>
                </a:solidFill>
                <a:latin typeface="Segoe UI"/>
              </a:defRPr>
            </a:pPr>
            <a:r>
              <a:t>✅ 1,800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706624"/>
            <a:ext cx="2743200" cy="4114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75234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75234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429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23697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Consistency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3236976"/>
            <a:ext cx="2743200" cy="4114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0" y="32826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676"/>
                </a:solidFill>
                <a:latin typeface="Segoe UI"/>
              </a:defRPr>
            </a:pPr>
            <a:r>
              <a:t>✅ 100% — same input = same output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236976"/>
            <a:ext cx="2743200" cy="4114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2826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Variable — depends on officer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28269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76732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Shift Coverage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0" y="3767328"/>
            <a:ext cx="2743200" cy="4114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38130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676"/>
                </a:solidFill>
                <a:latin typeface="Segoe UI"/>
              </a:defRPr>
            </a:pPr>
            <a:r>
              <a:t>✅ 24/7 — never sleeps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67328"/>
            <a:ext cx="2743200" cy="4114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8130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8-hour shifts only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381304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757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2976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Language Support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4297680"/>
            <a:ext cx="2743200" cy="4114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66160" y="4343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676"/>
                </a:solidFill>
                <a:latin typeface="Segoe UI"/>
              </a:defRPr>
            </a:pPr>
            <a:r>
              <a:t>✅ English + Hindi + Hinglish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4297680"/>
            <a:ext cx="2743200" cy="4114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4343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Hindi/English only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43434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90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82803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Precursor Detection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74720" y="4828032"/>
            <a:ext cx="2743200" cy="4114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66160" y="48737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676"/>
                </a:solidFill>
                <a:latin typeface="Segoe UI"/>
              </a:defRPr>
            </a:pPr>
            <a:r>
              <a:t>✅ Automated 14-factor scoring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4828032"/>
            <a:ext cx="2743200" cy="4114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48737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Manual pattern recognition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487375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35838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False Negative Rate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74720" y="5358384"/>
            <a:ext cx="2743200" cy="4114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66160" y="54041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676"/>
                </a:solidFill>
                <a:latin typeface="Segoe UI"/>
              </a:defRPr>
            </a:pPr>
            <a:r>
              <a:t>✅ 1.2% (high recall)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5358384"/>
            <a:ext cx="2743200" cy="4114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92240" y="54041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~28% (fatigue, fatigue)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0" y="540410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757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18320" y="1097280"/>
            <a:ext cx="2468880" cy="47548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418320" y="1097280"/>
            <a:ext cx="2468880" cy="36576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01200" y="137160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0B429"/>
                </a:solidFill>
                <a:latin typeface="Segoe UI"/>
              </a:defRPr>
            </a:pPr>
            <a:r>
              <a:t>450x</a:t>
            </a:r>
          </a:p>
          <a:p>
            <a:pPr>
              <a:spcAft>
                <a:spcPts val="700"/>
              </a:spcAft>
              <a:defRPr sz="1400" b="1">
                <a:solidFill>
                  <a:srgbClr val="F0B429"/>
                </a:solidFill>
                <a:latin typeface="Segoe UI"/>
              </a:defRPr>
            </a:pPr>
            <a:r>
              <a:t>faster</a:t>
            </a:r>
          </a:p>
          <a:p>
            <a:pPr>
              <a:spcAft>
                <a:spcPts val="7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700"/>
              </a:spcAft>
              <a:defRPr sz="1400" b="0">
                <a:solidFill>
                  <a:srgbClr val="B0BCCE"/>
                </a:solidFill>
                <a:latin typeface="Segoe UI"/>
              </a:defRPr>
            </a:pPr>
            <a:r>
              <a:t>2 sec vs</a:t>
            </a:r>
          </a:p>
          <a:p>
            <a:pPr>
              <a:spcAft>
                <a:spcPts val="700"/>
              </a:spcAft>
              <a:defRPr sz="1400" b="0">
                <a:solidFill>
                  <a:srgbClr val="B0BCCE"/>
                </a:solidFill>
                <a:latin typeface="Segoe UI"/>
              </a:defRPr>
            </a:pPr>
            <a:r>
              <a:t>15 min</a:t>
            </a:r>
          </a:p>
          <a:p>
            <a:pPr>
              <a:spcAft>
                <a:spcPts val="700"/>
              </a:spcAft>
              <a:defRPr sz="1400" b="0">
                <a:solidFill>
                  <a:srgbClr val="B0BCCE"/>
                </a:solidFill>
                <a:latin typeface="Segoe UI"/>
              </a:defRPr>
            </a:pPr>
            <a:r>
              <a:t>per report</a:t>
            </a:r>
          </a:p>
          <a:p>
            <a:pPr>
              <a:spcAft>
                <a:spcPts val="7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700"/>
              </a:spcAft>
              <a:defRPr sz="1400" b="1">
                <a:solidFill>
                  <a:srgbClr val="00E676"/>
                </a:solidFill>
                <a:latin typeface="Segoe UI"/>
              </a:defRPr>
            </a:pPr>
            <a:r>
              <a:t>4x more</a:t>
            </a:r>
          </a:p>
          <a:p>
            <a:pPr>
              <a:spcAft>
                <a:spcPts val="700"/>
              </a:spcAft>
              <a:defRPr sz="1400" b="1">
                <a:solidFill>
                  <a:srgbClr val="00E676"/>
                </a:solidFill>
                <a:latin typeface="Segoe UI"/>
              </a:defRPr>
            </a:pPr>
            <a:r>
              <a:t>accurate</a:t>
            </a:r>
          </a:p>
          <a:p>
            <a:pPr>
              <a:spcAft>
                <a:spcPts val="7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700"/>
              </a:spcAft>
              <a:defRPr sz="1400" b="1">
                <a:solidFill>
                  <a:srgbClr val="00D4FF"/>
                </a:solidFill>
                <a:latin typeface="Segoe UI"/>
              </a:defRPr>
            </a:pPr>
            <a:r>
              <a:t>97.4%</a:t>
            </a:r>
          </a:p>
          <a:p>
            <a:pPr>
              <a:spcAft>
                <a:spcPts val="700"/>
              </a:spcAft>
              <a:defRPr sz="1400" b="0">
                <a:solidFill>
                  <a:srgbClr val="B0BCCE"/>
                </a:solidFill>
                <a:latin typeface="Segoe UI"/>
              </a:defRPr>
            </a:pPr>
            <a:r>
              <a:t>vs ~72%</a:t>
            </a:r>
          </a:p>
          <a:p>
            <a:pPr>
              <a:spcAft>
                <a:spcPts val="700"/>
              </a:spcAft>
              <a:defRPr sz="1400" b="0">
                <a:solidFill>
                  <a:srgbClr val="B0BCCE"/>
                </a:solidFill>
                <a:latin typeface="Segoe UI"/>
              </a:defRPr>
            </a:pPr>
            <a:r>
              <a:t>manual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429"/>
                </a:solidFill>
                <a:latin typeface="Segoe UI"/>
              </a:defRPr>
            </a:pPr>
            <a:r>
              <a:t>💡 SAFEGUARD AI doesn't replace safety officers — it makes them 450x faster at finding the reports that matter.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Segoe UI"/>
              </a:defRPr>
            </a:pPr>
            <a:r>
              <a:t>◆ Domain Knowledge &amp; SIF Precursor Logic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27432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B429"/>
                </a:solidFill>
                <a:latin typeface="Segoe UI"/>
              </a:defRPr>
            </a:pPr>
            <a:r>
              <a:t>What is an SIF Precursor?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SIF = Serious Injury or Fatality</a:t>
            </a:r>
          </a:p>
          <a:p>
            <a:pPr>
              <a:spcAft>
                <a:spcPts val="65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50"/>
              </a:spcAft>
              <a:defRPr sz="1300" b="0">
                <a:solidFill>
                  <a:srgbClr val="B0BCCE"/>
                </a:solidFill>
                <a:latin typeface="Segoe UI"/>
              </a:defRPr>
            </a:pPr>
            <a:r>
              <a:t>A SIF precursor is a warning sign or high-risk</a:t>
            </a:r>
          </a:p>
          <a:p>
            <a:pPr>
              <a:spcAft>
                <a:spcPts val="650"/>
              </a:spcAft>
              <a:defRPr sz="1300" b="0">
                <a:solidFill>
                  <a:srgbClr val="B0BCCE"/>
                </a:solidFill>
                <a:latin typeface="Segoe UI"/>
              </a:defRPr>
            </a:pPr>
            <a:r>
              <a:t>condition/behavior that could lead to serious</a:t>
            </a:r>
          </a:p>
          <a:p>
            <a:pPr>
              <a:spcAft>
                <a:spcPts val="650"/>
              </a:spcAft>
              <a:defRPr sz="1300" b="0">
                <a:solidFill>
                  <a:srgbClr val="B0BCCE"/>
                </a:solidFill>
                <a:latin typeface="Segoe UI"/>
              </a:defRPr>
            </a:pPr>
            <a:r>
              <a:t>injury or fatality if not controlled.</a:t>
            </a:r>
          </a:p>
          <a:p>
            <a:pPr>
              <a:spcAft>
                <a:spcPts val="65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50"/>
              </a:spcAft>
              <a:defRPr sz="1300" b="1">
                <a:solidFill>
                  <a:srgbClr val="F0B429"/>
                </a:solidFill>
                <a:latin typeface="Segoe UI"/>
              </a:defRPr>
            </a:pPr>
            <a:r>
              <a:t>Example Report:</a:t>
            </a:r>
          </a:p>
          <a:p>
            <a:pPr>
              <a:spcAft>
                <a:spcPts val="650"/>
              </a:spcAft>
              <a:defRPr sz="1300" b="0">
                <a:solidFill>
                  <a:srgbClr val="B0BCCE"/>
                </a:solidFill>
                <a:latin typeface="Segoe UI"/>
              </a:defRPr>
            </a:pPr>
            <a:r>
              <a:t>"Worker entered restricted area during</a:t>
            </a:r>
          </a:p>
          <a:p>
            <a:pPr>
              <a:spcAft>
                <a:spcPts val="650"/>
              </a:spcAft>
              <a:defRPr sz="1300" b="0">
                <a:solidFill>
                  <a:srgbClr val="B0BCCE"/>
                </a:solidFill>
                <a:latin typeface="Segoe UI"/>
              </a:defRPr>
            </a:pPr>
            <a:r>
              <a:t>maintenance without proper PPE and permit."</a:t>
            </a:r>
          </a:p>
          <a:p>
            <a:pPr>
              <a:spcAft>
                <a:spcPts val="65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50"/>
              </a:spcAft>
              <a:defRPr sz="1300" b="1">
                <a:solidFill>
                  <a:srgbClr val="00E676"/>
                </a:solidFill>
                <a:latin typeface="Segoe UI"/>
              </a:defRPr>
            </a:pPr>
            <a:r>
              <a:t>System Understanding:</a:t>
            </a:r>
          </a:p>
          <a:p>
            <a:pPr>
              <a:spcAft>
                <a:spcPts val="65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▸ Hazard → Restricted work environment</a:t>
            </a:r>
          </a:p>
          <a:p>
            <a:pPr>
              <a:spcAft>
                <a:spcPts val="65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▸ Unsafe Act → Entry without controls</a:t>
            </a:r>
          </a:p>
          <a:p>
            <a:pPr>
              <a:spcAft>
                <a:spcPts val="65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▸ Control Failure → PPE + Permit</a:t>
            </a:r>
          </a:p>
          <a:p>
            <a:pPr>
              <a:spcAft>
                <a:spcPts val="650"/>
              </a:spcAft>
              <a:defRPr sz="1300" b="1">
                <a:solidFill>
                  <a:srgbClr val="FF4757"/>
                </a:solidFill>
                <a:latin typeface="Segoe UI"/>
              </a:defRPr>
            </a:pPr>
            <a:r>
              <a:t>▸ SIF Potential → HIGH</a:t>
            </a:r>
          </a:p>
          <a:p>
            <a:pPr>
              <a:spcAft>
                <a:spcPts val="650"/>
              </a:spcAft>
              <a:defRPr sz="1300" b="1">
                <a:solidFill>
                  <a:srgbClr val="FF4757"/>
                </a:solidFill>
                <a:latin typeface="Segoe UI"/>
              </a:defRPr>
            </a:pPr>
            <a:r>
              <a:t>▸ Risk Score → 87/100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B429"/>
                </a:solidFill>
                <a:latin typeface="Segoe UI"/>
              </a:defRPr>
            </a:pPr>
            <a:r>
              <a:t>Safety Ontology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55448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 b="1">
                <a:solidFill>
                  <a:srgbClr val="00D4FF"/>
                </a:solidFill>
                <a:latin typeface="Segoe UI"/>
              </a:defRPr>
            </a:pPr>
            <a:r>
              <a:t>HAZARD CATEGORIES:</a:t>
            </a:r>
          </a:p>
          <a:p>
            <a:pPr>
              <a:spcAft>
                <a:spcPts val="650"/>
              </a:spcAft>
              <a:defRPr sz="1300" b="0">
                <a:solidFill>
                  <a:srgbClr val="B0BCCE"/>
                </a:solidFill>
                <a:latin typeface="Segoe UI"/>
              </a:defRPr>
            </a:pPr>
            <a:r>
              <a:t>  Electrical · Chemical · Fire · Pressure</a:t>
            </a:r>
          </a:p>
          <a:p>
            <a:pPr>
              <a:spcAft>
                <a:spcPts val="650"/>
              </a:spcAft>
              <a:defRPr sz="1300" b="0">
                <a:solidFill>
                  <a:srgbClr val="B0BCCE"/>
                </a:solidFill>
                <a:latin typeface="Segoe UI"/>
              </a:defRPr>
            </a:pPr>
            <a:r>
              <a:t>  Mechanical · Height · Confined Space</a:t>
            </a:r>
          </a:p>
          <a:p>
            <a:pPr>
              <a:spcAft>
                <a:spcPts val="65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50"/>
              </a:spcAft>
              <a:defRPr sz="1300" b="1">
                <a:solidFill>
                  <a:srgbClr val="FF4757"/>
                </a:solidFill>
                <a:latin typeface="Segoe UI"/>
              </a:defRPr>
            </a:pPr>
            <a:r>
              <a:t>UNSAFE ACTS:</a:t>
            </a:r>
          </a:p>
          <a:p>
            <a:pPr>
              <a:spcAft>
                <a:spcPts val="650"/>
              </a:spcAft>
              <a:defRPr sz="1300" b="0">
                <a:solidFill>
                  <a:srgbClr val="B0BCCE"/>
                </a:solidFill>
                <a:latin typeface="Segoe UI"/>
              </a:defRPr>
            </a:pPr>
            <a:r>
              <a:t>  PPE Violation · Procedure Bypass</a:t>
            </a:r>
          </a:p>
          <a:p>
            <a:pPr>
              <a:spcAft>
                <a:spcPts val="650"/>
              </a:spcAft>
              <a:defRPr sz="1300" b="0">
                <a:solidFill>
                  <a:srgbClr val="B0BCCE"/>
                </a:solidFill>
                <a:latin typeface="Segoe UI"/>
              </a:defRPr>
            </a:pPr>
            <a:r>
              <a:t>  Unauthorized Activity · Unsafe Operation</a:t>
            </a:r>
          </a:p>
          <a:p>
            <a:pPr>
              <a:spcAft>
                <a:spcPts val="65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50"/>
              </a:spcAft>
              <a:defRPr sz="1300" b="1">
                <a:solidFill>
                  <a:srgbClr val="FF8C00"/>
                </a:solidFill>
                <a:latin typeface="Segoe UI"/>
              </a:defRPr>
            </a:pPr>
            <a:r>
              <a:t>UNSAFE CONDITIONS:</a:t>
            </a:r>
          </a:p>
          <a:p>
            <a:pPr>
              <a:spcAft>
                <a:spcPts val="650"/>
              </a:spcAft>
              <a:defRPr sz="1300" b="0">
                <a:solidFill>
                  <a:srgbClr val="B0BCCE"/>
                </a:solidFill>
                <a:latin typeface="Segoe UI"/>
              </a:defRPr>
            </a:pPr>
            <a:r>
              <a:t>  Equipment Failure · Missing Barrier</a:t>
            </a:r>
          </a:p>
          <a:p>
            <a:pPr>
              <a:spcAft>
                <a:spcPts val="650"/>
              </a:spcAft>
              <a:defRPr sz="1300" b="0">
                <a:solidFill>
                  <a:srgbClr val="B0BCCE"/>
                </a:solidFill>
                <a:latin typeface="Segoe UI"/>
              </a:defRPr>
            </a:pPr>
            <a:r>
              <a:t>  Poor Housekeeping · Environmental Hazard</a:t>
            </a:r>
          </a:p>
          <a:p>
            <a:pPr>
              <a:spcAft>
                <a:spcPts val="65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50"/>
              </a:spcAft>
              <a:defRPr sz="1300" b="1">
                <a:solidFill>
                  <a:srgbClr val="00E676"/>
                </a:solidFill>
                <a:latin typeface="Segoe UI"/>
              </a:defRPr>
            </a:pPr>
            <a:r>
              <a:t>230 DOMAIN TERMS:</a:t>
            </a:r>
          </a:p>
          <a:p>
            <a:pPr>
              <a:spcAft>
                <a:spcPts val="650"/>
              </a:spcAft>
              <a:defRPr sz="1300" b="0">
                <a:solidFill>
                  <a:srgbClr val="B0BCCE"/>
                </a:solidFill>
                <a:latin typeface="Segoe UI"/>
              </a:defRPr>
            </a:pPr>
            <a:r>
              <a:t>  WELLHEAD · COMPRESSOR · SEPARATOR</a:t>
            </a:r>
          </a:p>
          <a:p>
            <a:pPr>
              <a:spcAft>
                <a:spcPts val="650"/>
              </a:spcAft>
              <a:defRPr sz="1300" b="0">
                <a:solidFill>
                  <a:srgbClr val="B0BCCE"/>
                </a:solidFill>
                <a:latin typeface="Segoe UI"/>
              </a:defRPr>
            </a:pPr>
            <a:r>
              <a:t>  WELLHEAD · PUMP · VALVE · PIPELINE</a:t>
            </a:r>
          </a:p>
          <a:p>
            <a:pPr>
              <a:spcAft>
                <a:spcPts val="650"/>
              </a:spcAft>
              <a:defRPr sz="1300" b="0">
                <a:solidFill>
                  <a:srgbClr val="B0BCCE"/>
                </a:solidFill>
                <a:latin typeface="Segoe UI"/>
              </a:defRPr>
            </a:pPr>
            <a:r>
              <a:t>  RIG · TANK · H2S · METHANE · LEL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B429"/>
                </a:solidFill>
                <a:latin typeface="Segoe UI"/>
              </a:defRPr>
            </a:pPr>
            <a:r>
              <a:t>🎯 5 Detection Patterns: Escalating Severity · Repeated Near-Misses · PPE→Injury Chain · Same-Location Recurrence · Cross-Equipment Correlation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Segoe UI"/>
              </a:defRPr>
            </a:pPr>
            <a:r>
              <a:t>◆ Scalability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27432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657600" cy="41148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3657600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Segoe UI"/>
              </a:defRPr>
            </a:pPr>
            <a:r>
              <a:t>PHASE 1 — Current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Segoe UI"/>
              </a:defRPr>
            </a:pPr>
            <a:r>
              <a:t>▸ NLP extraction from text reports</a:t>
            </a:r>
            <a:br/>
            <a:r>
              <a:t>▸ ML classification (7 categories, 97.4% accuracy)</a:t>
            </a:r>
            <a:br/>
            <a:r>
              <a:t>▸ 14-factor risk scoring engine</a:t>
            </a:r>
            <a:br/>
            <a:r>
              <a:t>▸ Knowledge graph with temporal linking</a:t>
            </a:r>
            <a:br/>
            <a:r>
              <a:t>▸ LLM-powered explanations (Gemini)</a:t>
            </a:r>
            <a:br/>
            <a:r>
              <a:t>▸ React dashboard with 9 AI engine views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097280"/>
            <a:ext cx="3657600" cy="41148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097280"/>
            <a:ext cx="3657600" cy="36576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234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B429"/>
                </a:solidFill>
                <a:latin typeface="Segoe UI"/>
              </a:defRPr>
            </a:pPr>
            <a:r>
              <a:t>PHASE 2 — Production 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64592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Segoe UI"/>
              </a:defRPr>
            </a:pPr>
            <a:r>
              <a:t>▸ Real Oil India report ingestion (PDF/scan)</a:t>
            </a:r>
            <a:br/>
            <a:r>
              <a:t>▸ MongoDB for production persistence</a:t>
            </a:r>
            <a:br/>
            <a:r>
              <a:t>▸ Transformer-based NER (BERT/RoBERTa)</a:t>
            </a:r>
            <a:br/>
            <a:r>
              <a:t>▸ Multi-facility support (all OIL locations)</a:t>
            </a:r>
            <a:br/>
            <a:r>
              <a:t>▸ Real-time WebSocket alerts</a:t>
            </a:r>
            <a:br/>
            <a:r>
              <a:t>▸ Mobile app for field workers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097280"/>
            <a:ext cx="3657600" cy="41148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097280"/>
            <a:ext cx="3657600" cy="36576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234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757"/>
                </a:solidFill>
                <a:latin typeface="Segoe UI"/>
              </a:defRPr>
            </a:pPr>
            <a:r>
              <a:t>PHASE 3 — Enterprise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64592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Segoe UI"/>
              </a:defRPr>
            </a:pPr>
            <a:r>
              <a:t>▸ Vector database (FAISS/Qdrant) for similarity</a:t>
            </a:r>
            <a:br/>
            <a:r>
              <a:t>▸ GNN (Graph Neural Network) for precursor detection</a:t>
            </a:r>
            <a:br/>
            <a:r>
              <a:t>▸ Time-series prediction (Prophet/LSTM)</a:t>
            </a:r>
            <a:br/>
            <a:r>
              <a:t>▸ PPE &amp; hazard detection from images (YOLOv8)</a:t>
            </a:r>
            <a:br/>
            <a:r>
              <a:t>▸ On-premise LLM deployment for data security</a:t>
            </a:r>
            <a:br/>
            <a:r>
              <a:t>▸ Integration with OIL's safety management system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577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 b="1">
                <a:solidFill>
                  <a:srgbClr val="F0B429"/>
                </a:solidFill>
                <a:latin typeface="Segoe UI"/>
              </a:defRPr>
            </a:pPr>
            <a:r>
              <a:t>Scalability:</a:t>
            </a:r>
          </a:p>
          <a:p>
            <a:pPr>
              <a:spcAft>
                <a:spcPts val="650"/>
              </a:spcAft>
              <a:defRPr sz="1300" b="0">
                <a:solidFill>
                  <a:srgbClr val="B0BCCE"/>
                </a:solidFill>
                <a:latin typeface="Segoe UI"/>
              </a:defRPr>
            </a:pPr>
            <a:r>
              <a:t>▸ 100K+ reports with async batch processing   ▸ Horizontal scaling via Docker/K8s</a:t>
            </a:r>
          </a:p>
          <a:p>
            <a:pPr>
              <a:spcAft>
                <a:spcPts val="650"/>
              </a:spcAft>
              <a:defRPr sz="1300" b="0">
                <a:solidFill>
                  <a:srgbClr val="B0BCCE"/>
                </a:solidFill>
                <a:latin typeface="Segoe UI"/>
              </a:defRPr>
            </a:pPr>
            <a:r>
              <a:t>▸ Vector DB for instant similarity search   ▸ On-premise LLM for data security (OIL requirement)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Segoe UI"/>
              </a:defRPr>
            </a:pPr>
            <a:r>
              <a:t>◆ Anticipated Judge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27432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82296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4864" cy="8229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Segoe UI"/>
              </a:defRPr>
            </a:pPr>
            <a:r>
              <a:t>Q: Is this trained on real data?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A: We trained on 195 reports modeled after Oil India's operational scenarios. Real incident data is classified. The system ingests real reports via PDF upload — here's a live demo.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11247120" cy="82296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965960"/>
            <a:ext cx="54864" cy="8229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11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Segoe UI"/>
              </a:defRPr>
            </a:pPr>
            <a:r>
              <a:t>Q: How is this different from keyword matching?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31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A: Keyword matching can't understand 'Worker was not equipped with required protective equipment.' Transformer-based NLP captures contextual meaning and paraphrases.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80360"/>
            <a:ext cx="11247120" cy="82296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880360"/>
            <a:ext cx="54864" cy="82296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926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B429"/>
                </a:solidFill>
                <a:latin typeface="Segoe UI"/>
              </a:defRPr>
            </a:pPr>
            <a:r>
              <a:t>Q: Why not just use ChatGPT?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46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A: Safety-critical risk assessment requires consistency and auditable outputs. We use supervised ML for classification + controlled LLM for explanations — hybrid architecture.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94760"/>
            <a:ext cx="11247120" cy="82296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794760"/>
            <a:ext cx="54864" cy="82296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40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757"/>
                </a:solidFill>
                <a:latin typeface="Segoe UI"/>
              </a:defRPr>
            </a:pPr>
            <a:r>
              <a:t>Q: What if the AI is wrong?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160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A: This is decision SUPPORT, not autonomous safety authority. Low-confidence predictions escalate for human review. Safety officers make the final call.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09160"/>
            <a:ext cx="11247120" cy="82296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709160"/>
            <a:ext cx="54864" cy="82296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754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90FF"/>
                </a:solidFill>
                <a:latin typeface="Segoe UI"/>
              </a:defRPr>
            </a:pPr>
            <a:r>
              <a:t>Q: How do you handle class imbalance?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74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A: SIF precursors are rare. We use class-weighted loss, threshold tuning, and evaluate with precision/recall/F1 — not accuracy alone.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623560"/>
            <a:ext cx="11247120" cy="82296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623560"/>
            <a:ext cx="54864" cy="8229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6692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Segoe UI"/>
              </a:defRPr>
            </a:pPr>
            <a:r>
              <a:t>Q: Will this work for millions of reports?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989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A: Yes. Async batch processing, vector database for similarity, horizontally scalable Docker/K8s deployment. LLM reserved for selected high-risk cases.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Segoe UI"/>
              </a:defRPr>
            </a:pPr>
            <a:r>
              <a:t>◆ Team &amp; Acknowledgements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27432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566160" cy="10972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56616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🧠 NLP &amp; ML Lead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NER pipeline, classification engine, model evaluation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3566160" cy="10972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566160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Segoe UI"/>
              </a:defRPr>
            </a:pPr>
            <a:r>
              <a:t>⚙️ Backend 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691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FastAPI, risk scoring, knowledge graph, alert system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188720"/>
            <a:ext cx="3566160" cy="10972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3566160" cy="36576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429"/>
                </a:solidFill>
                <a:latin typeface="Segoe UI"/>
              </a:defRPr>
            </a:pPr>
            <a:r>
              <a:t>🎨 Frontend Lead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691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React dashboard, Cytoscape graphs, Chart.js visualizations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560320"/>
            <a:ext cx="3566160" cy="10972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560320"/>
            <a:ext cx="3566160" cy="36576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651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757"/>
                </a:solidFill>
                <a:latin typeface="Segoe UI"/>
              </a:defRPr>
            </a:pPr>
            <a:r>
              <a:t>🔒 Security &amp; Auth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063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JWT authentication, role-based access, data encryption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2560320"/>
            <a:ext cx="3566160" cy="10972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2560320"/>
            <a:ext cx="3566160" cy="36576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2651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90FF"/>
                </a:solidFill>
                <a:latin typeface="Segoe UI"/>
              </a:defRPr>
            </a:pPr>
            <a:r>
              <a:t>📊 Data &amp;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063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Dataset creation, metrics evaluation, SHAP/LIME explainability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2560320"/>
            <a:ext cx="3566160" cy="10972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2560320"/>
            <a:ext cx="356616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2651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Segoe UI"/>
              </a:defRPr>
            </a:pPr>
            <a:r>
              <a:t>🎤 Presentation Lead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063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Pitch deck, demo preparation, Q&amp;A rehearsal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114800"/>
            <a:ext cx="11247120" cy="4572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3891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🛡️ SAFEGUARD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0B429"/>
                </a:solidFill>
                <a:latin typeface="Segoe UI"/>
              </a:defRPr>
            </a:pPr>
            <a:r>
              <a:t>AI-powered Proactive Safety Intelligence — from Reports to Risk to Prevention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3949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00D4FF"/>
                </a:solidFill>
                <a:latin typeface="Segoe UI"/>
              </a:defRPr>
            </a:pPr>
            <a:r>
              <a:t>Detect → Understand → Prioritize → Learn → Act</a:t>
            </a:r>
          </a:p>
          <a:p>
            <a:pPr>
              <a:spcAft>
                <a:spcPts val="7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700"/>
              </a:spcAft>
              <a:defRPr sz="1400" b="0">
                <a:solidFill>
                  <a:srgbClr val="B0BCCE"/>
                </a:solidFill>
                <a:latin typeface="Segoe UI"/>
              </a:defRPr>
            </a:pPr>
            <a:r>
              <a:t>Oil India Limited  ·  SIH26165  ·  Smart India Hackathon 2026</a:t>
            </a:r>
          </a:p>
          <a:p>
            <a:pPr>
              <a:spcAft>
                <a:spcPts val="700"/>
              </a:spcAft>
              <a:defRPr sz="1400" b="0">
                <a:solidFill>
                  <a:srgbClr val="B0BCCE"/>
                </a:solidFill>
                <a:latin typeface="Segoe UI"/>
              </a:defRPr>
            </a:pPr>
            <a:r>
              <a:t>GitHub: github.com/peeyush521/Sih-oil7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